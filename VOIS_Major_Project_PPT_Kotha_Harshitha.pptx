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8"/>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6.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24180" y="3583940"/>
            <a:ext cx="3693160" cy="861695"/>
          </a:xfrm>
        </p:spPr>
        <p:txBody>
          <a:bodyPr vert="horz" lIns="91440" tIns="45720" rIns="91440" bIns="45720" rtlCol="0" anchor="t">
            <a:normAutofit/>
          </a:bodyPr>
          <a:lstStyle/>
          <a:p>
            <a:pPr algn="r"/>
            <a:r>
              <a:rPr lang="en-US" altLang="en-IN" b="0" dirty="0">
                <a:solidFill>
                  <a:schemeClr val="tx1"/>
                </a:solidFill>
              </a:rPr>
              <a:t>Kotha.Harshitha</a:t>
            </a:r>
            <a:endParaRPr lang="en-IN" b="0" dirty="0">
              <a:solidFill>
                <a:schemeClr val="tx1"/>
              </a:solidFill>
            </a:endParaRPr>
          </a:p>
          <a:p>
            <a:pPr algn="r"/>
            <a:r>
              <a:rPr lang="en-US" altLang="en-IN" b="0" dirty="0">
                <a:solidFill>
                  <a:schemeClr val="tx1"/>
                </a:solidFill>
              </a:rPr>
              <a:t>ACE ENGINEERING COLLEGE</a:t>
            </a:r>
            <a:endParaRPr lang="en-US" altLang="en-IN" b="0" dirty="0">
              <a:solidFill>
                <a:schemeClr val="tx1"/>
              </a:solidFill>
            </a:endParaRPr>
          </a:p>
        </p:txBody>
      </p:sp>
      <p:sp>
        <p:nvSpPr>
          <p:cNvPr id="4" name="Title 3"/>
          <p:cNvSpPr>
            <a:spLocks noGrp="1"/>
          </p:cNvSpPr>
          <p:nvPr>
            <p:ph type="title"/>
          </p:nvPr>
        </p:nvSpPr>
        <p:spPr>
          <a:xfrm>
            <a:off x="678180" y="2844800"/>
            <a:ext cx="8197850" cy="743585"/>
          </a:xfrm>
        </p:spPr>
        <p:txBody>
          <a:bodyPr>
            <a:normAutofit/>
          </a:bodyPr>
          <a:lstStyle/>
          <a:p>
            <a:r>
              <a:rPr lang="en-US" altLang="en-US" sz="3200" dirty="0"/>
              <a:t>Seasonal Agriculture Performance Analysis</a:t>
            </a:r>
            <a:endParaRPr lang="en-US" altLang="en-US"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5" name="Text Box 4"/>
          <p:cNvSpPr txBox="1"/>
          <p:nvPr/>
        </p:nvSpPr>
        <p:spPr>
          <a:xfrm>
            <a:off x="870585" y="4671695"/>
            <a:ext cx="4987925" cy="368300"/>
          </a:xfrm>
          <a:prstGeom prst="rect">
            <a:avLst/>
          </a:prstGeom>
          <a:noFill/>
        </p:spPr>
        <p:txBody>
          <a:bodyPr wrap="square" rtlCol="0">
            <a:spAutoFit/>
          </a:bodyPr>
          <a:p>
            <a:r>
              <a:rPr lang="en-US"/>
              <a:t>AICTE STU ID : STU6a6b6789920bd1785423753</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74980" y="1556385"/>
            <a:ext cx="7443470" cy="3926840"/>
          </a:xfrm>
        </p:spPr>
        <p:txBody>
          <a:bodyPr vert="horz" lIns="91440" tIns="45720" rIns="91440" bIns="45720" rtlCol="0" anchor="t">
            <a:noAutofit/>
          </a:bodyPr>
          <a:lstStyle/>
          <a:p>
            <a:pPr>
              <a:lnSpc>
                <a:spcPct val="150000"/>
              </a:lnSpc>
            </a:pPr>
            <a:r>
              <a:rPr lang="en-US" altLang="en-US" sz="1300" b="1" dirty="0"/>
              <a:t>Agricultural activities are influenced by seasonal variations in environmental conditions,</a:t>
            </a:r>
            <a:endParaRPr lang="en-US" altLang="en-US" sz="1300" b="1" dirty="0"/>
          </a:p>
          <a:p>
            <a:pPr>
              <a:lnSpc>
                <a:spcPct val="150000"/>
              </a:lnSpc>
            </a:pPr>
            <a:r>
              <a:rPr lang="en-US" altLang="en-US" sz="1300" b="1" dirty="0"/>
              <a:t>farming practices, resource availability and market conditions. As a result, agricultural</a:t>
            </a:r>
            <a:endParaRPr lang="en-US" altLang="en-US" sz="1300" b="1" dirty="0"/>
          </a:p>
          <a:p>
            <a:pPr>
              <a:lnSpc>
                <a:spcPct val="150000"/>
              </a:lnSpc>
            </a:pPr>
            <a:r>
              <a:rPr lang="en-US" altLang="en-US" sz="1300" b="1" dirty="0"/>
              <a:t>performance may differ from one season to another.</a:t>
            </a:r>
            <a:endParaRPr lang="en-US" altLang="en-US" sz="1300" b="1" dirty="0"/>
          </a:p>
          <a:p>
            <a:pPr>
              <a:lnSpc>
                <a:spcPct val="150000"/>
              </a:lnSpc>
            </a:pPr>
            <a:r>
              <a:rPr lang="en-US" altLang="en-US" sz="1300" b="1" dirty="0"/>
              <a:t>However, raw agricultural data does not clearly explain how agricultural performance changes</a:t>
            </a:r>
            <a:endParaRPr lang="en-US" altLang="en-US" sz="1300" b="1" dirty="0"/>
          </a:p>
          <a:p>
            <a:pPr>
              <a:lnSpc>
                <a:spcPct val="150000"/>
              </a:lnSpc>
            </a:pPr>
            <a:r>
              <a:rPr lang="en-US" altLang="en-US" sz="1300" b="1" dirty="0"/>
              <a:t>across seasons or what patterns can be observed in different seasonal conditions.</a:t>
            </a:r>
            <a:endParaRPr lang="en-US" altLang="en-US" sz="1300" b="1" dirty="0"/>
          </a:p>
          <a:p>
            <a:pPr>
              <a:lnSpc>
                <a:spcPct val="150000"/>
              </a:lnSpc>
            </a:pPr>
            <a:r>
              <a:rPr lang="en-US" altLang="en-US" sz="1300" b="1" dirty="0"/>
              <a:t>The problem is to analyze the given agricultural dataset and investigate seasonal differences</a:t>
            </a:r>
            <a:endParaRPr lang="en-US" altLang="en-US" sz="1300" b="1" dirty="0"/>
          </a:p>
          <a:p>
            <a:pPr>
              <a:lnSpc>
                <a:spcPct val="150000"/>
              </a:lnSpc>
            </a:pPr>
            <a:r>
              <a:rPr lang="en-US" altLang="en-US" sz="1300" b="1" dirty="0"/>
              <a:t>in agricultural performance by identifying meaningful patterns, trends, relationships and</a:t>
            </a:r>
            <a:endParaRPr lang="en-US" altLang="en-US" sz="1300" b="1" dirty="0"/>
          </a:p>
          <a:p>
            <a:pPr marL="0" indent="0">
              <a:lnSpc>
                <a:spcPct val="150000"/>
              </a:lnSpc>
              <a:buNone/>
            </a:pPr>
            <a:r>
              <a:rPr lang="en-US" altLang="en-US" sz="1300" b="1" dirty="0"/>
              <a:t>       variations within the available data.</a:t>
            </a:r>
            <a:endParaRPr lang="en-US" altLang="en-US" sz="1300" b="1"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842010" y="2314575"/>
            <a:ext cx="7619365" cy="3418205"/>
          </a:xfrm>
          <a:prstGeom prst="rect">
            <a:avLst/>
          </a:prstGeom>
          <a:noFill/>
        </p:spPr>
        <p:txBody>
          <a:bodyPr wrap="square" rtlCol="0">
            <a:noAutofit/>
          </a:bodyPr>
          <a:p>
            <a:r>
              <a:rPr lang="en-US" altLang="en-US"/>
              <a:t>Seasonal Agriculture Performance Analysis is a data analytics project that studies agricultural performance across different seasons, regions, and farming conditions. The project analyzes factors such as crop production, environmental conditions, farming practices, resource usage, and economic outcomes.</a:t>
            </a:r>
            <a:endParaRPr lang="en-US" altLang="en-US"/>
          </a:p>
          <a:p>
            <a:r>
              <a:rPr lang="en-US" altLang="en-US"/>
              <a:t>The main aim is to identify seasonal patterns, trends, relationships, and variations in agricultural performance. The findings can help understand how seasonal conditions affect agriculture and support better planning and data-driven decision making.</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991360"/>
            <a:ext cx="7904481" cy="3990023"/>
          </a:xfrm>
        </p:spPr>
        <p:txBody>
          <a:bodyPr>
            <a:normAutofit fontScale="40000"/>
          </a:bodyPr>
          <a:lstStyle/>
          <a:p>
            <a:pPr algn="just">
              <a:lnSpc>
                <a:spcPct val="150000"/>
              </a:lnSpc>
            </a:pPr>
            <a:r>
              <a:rPr lang="en-US" altLang="en-US" sz="3600" b="1" dirty="0"/>
              <a:t>Farmers – To understand seasonal crop performance and improve farming decisions.</a:t>
            </a:r>
            <a:endParaRPr lang="en-US" altLang="en-US" sz="3600" b="1" dirty="0"/>
          </a:p>
          <a:p>
            <a:pPr algn="just">
              <a:lnSpc>
                <a:spcPct val="150000"/>
              </a:lnSpc>
            </a:pPr>
            <a:r>
              <a:rPr lang="en-US" altLang="en-US" sz="3600" b="1" dirty="0"/>
              <a:t>Agricultural Officers – To monitor agricultural trends and support farmers.</a:t>
            </a:r>
            <a:endParaRPr lang="en-US" altLang="en-US" sz="3600" b="1" dirty="0"/>
          </a:p>
          <a:p>
            <a:pPr algn="just">
              <a:lnSpc>
                <a:spcPct val="150000"/>
              </a:lnSpc>
            </a:pPr>
            <a:r>
              <a:rPr lang="en-US" altLang="en-US" sz="3600" b="1" dirty="0"/>
              <a:t>Agricultural Researchers – To study seasonal patterns and relationships in agriculture.</a:t>
            </a:r>
            <a:endParaRPr lang="en-US" altLang="en-US" sz="3600" b="1" dirty="0"/>
          </a:p>
          <a:p>
            <a:pPr algn="just">
              <a:lnSpc>
                <a:spcPct val="150000"/>
              </a:lnSpc>
            </a:pPr>
            <a:r>
              <a:rPr lang="en-US" altLang="en-US" sz="3600" b="1" dirty="0"/>
              <a:t>Government &amp; Policy Makers – To use data insights for agricultural planning and policies.</a:t>
            </a:r>
            <a:endParaRPr lang="en-US" altLang="en-US" sz="3600" b="1" dirty="0"/>
          </a:p>
          <a:p>
            <a:pPr algn="just">
              <a:lnSpc>
                <a:spcPct val="150000"/>
              </a:lnSpc>
            </a:pPr>
            <a:r>
              <a:rPr lang="en-US" altLang="en-US" sz="3600" b="1" dirty="0"/>
              <a:t>Agribusinesses – To understand crop production and market-related trends.</a:t>
            </a:r>
            <a:endParaRPr lang="en-US" altLang="en-US" sz="3600" b="1" dirty="0"/>
          </a:p>
          <a:p>
            <a:pPr algn="just">
              <a:lnSpc>
                <a:spcPct val="150000"/>
              </a:lnSpc>
            </a:pPr>
            <a:r>
              <a:rPr lang="en-US" altLang="en-US" sz="3600" b="1" dirty="0"/>
              <a:t>Students &amp; Data Analysts – To study and analyze agricultural data.</a:t>
            </a:r>
            <a:endParaRPr lang="en-US" altLang="en-US" sz="3600" b="1"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1066258" y="1167130"/>
            <a:ext cx="9027702" cy="5243448"/>
          </a:xfrm>
        </p:spPr>
        <p:txBody>
          <a:bodyPr/>
          <a:lstStyle/>
          <a:p>
            <a:pPr lvl="1">
              <a:lnSpc>
                <a:spcPct val="150000"/>
              </a:lnSpc>
            </a:pPr>
            <a:r>
              <a:rPr lang="en-US" altLang="en-US" dirty="0"/>
              <a:t>Python – For data cleaning, analysis, and calculations.</a:t>
            </a:r>
            <a:endParaRPr lang="en-US" altLang="en-US" dirty="0"/>
          </a:p>
          <a:p>
            <a:pPr lvl="1">
              <a:lnSpc>
                <a:spcPct val="150000"/>
              </a:lnSpc>
            </a:pPr>
            <a:r>
              <a:rPr lang="en-US" altLang="en-US" dirty="0"/>
              <a:t>Pandas – For handling and processing the dataset.</a:t>
            </a:r>
            <a:endParaRPr lang="en-US" altLang="en-US" dirty="0"/>
          </a:p>
          <a:p>
            <a:pPr lvl="1">
              <a:lnSpc>
                <a:spcPct val="150000"/>
              </a:lnSpc>
            </a:pPr>
            <a:r>
              <a:rPr lang="en-US" altLang="en-US" dirty="0"/>
              <a:t>NumPy – For numerical calculations.</a:t>
            </a:r>
            <a:endParaRPr lang="en-US" altLang="en-US" dirty="0"/>
          </a:p>
          <a:p>
            <a:pPr lvl="1">
              <a:lnSpc>
                <a:spcPct val="150000"/>
              </a:lnSpc>
            </a:pPr>
            <a:r>
              <a:rPr lang="en-US" altLang="en-US" dirty="0"/>
              <a:t>Matplotlib – For creating graphs and visualizations.</a:t>
            </a:r>
            <a:endParaRPr lang="en-US" altLang="en-US" dirty="0"/>
          </a:p>
          <a:p>
            <a:pPr lvl="1">
              <a:lnSpc>
                <a:spcPct val="150000"/>
              </a:lnSpc>
            </a:pPr>
            <a:r>
              <a:rPr lang="en-US" altLang="en-US" dirty="0"/>
              <a:t>Seaborn – For statistical data visualization.</a:t>
            </a:r>
            <a:endParaRPr lang="en-US" altLang="en-US" dirty="0"/>
          </a:p>
          <a:p>
            <a:pPr lvl="1">
              <a:lnSpc>
                <a:spcPct val="150000"/>
              </a:lnSpc>
            </a:pPr>
            <a:r>
              <a:rPr lang="en-US" altLang="en-US" dirty="0"/>
              <a:t>Jupyter Notebook / Google Colab – For writing and executing the analysis.</a:t>
            </a:r>
            <a:endParaRPr lang="en-US" altLang="en-US" dirty="0"/>
          </a:p>
          <a:p>
            <a:pPr lvl="1">
              <a:lnSpc>
                <a:spcPct val="150000"/>
              </a:lnSpc>
            </a:pPr>
            <a:r>
              <a:rPr lang="en-US" altLang="en-US" dirty="0"/>
              <a:t>CSV / Excel – For storing and managing the agricultural dataset.</a:t>
            </a:r>
            <a:endParaRPr lang="en-US" altLang="en-US" dirty="0"/>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descr="Screenshot 2026-09-09 132155"/>
          <p:cNvPicPr>
            <a:picLocks noChangeAspect="1"/>
          </p:cNvPicPr>
          <p:nvPr/>
        </p:nvPicPr>
        <p:blipFill>
          <a:blip r:embed="rId2"/>
          <a:stretch>
            <a:fillRect/>
          </a:stretch>
        </p:blipFill>
        <p:spPr>
          <a:xfrm>
            <a:off x="320675" y="1508125"/>
            <a:ext cx="4275455" cy="4294505"/>
          </a:xfrm>
          <a:prstGeom prst="rect">
            <a:avLst/>
          </a:prstGeom>
        </p:spPr>
      </p:pic>
      <p:pic>
        <p:nvPicPr>
          <p:cNvPr id="6" name="Picture 5" descr="Screenshot 2026-09-09 132145"/>
          <p:cNvPicPr>
            <a:picLocks noChangeAspect="1"/>
          </p:cNvPicPr>
          <p:nvPr/>
        </p:nvPicPr>
        <p:blipFill>
          <a:blip r:embed="rId3"/>
          <a:stretch>
            <a:fillRect/>
          </a:stretch>
        </p:blipFill>
        <p:spPr>
          <a:xfrm>
            <a:off x="5352415" y="1431925"/>
            <a:ext cx="4828540" cy="38792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descr="Screenshot 2026-09-09 132203"/>
          <p:cNvPicPr>
            <a:picLocks noChangeAspect="1"/>
          </p:cNvPicPr>
          <p:nvPr/>
        </p:nvPicPr>
        <p:blipFill>
          <a:blip r:embed="rId2"/>
          <a:stretch>
            <a:fillRect/>
          </a:stretch>
        </p:blipFill>
        <p:spPr>
          <a:xfrm>
            <a:off x="320675" y="1201420"/>
            <a:ext cx="4762500" cy="3117850"/>
          </a:xfrm>
          <a:prstGeom prst="rect">
            <a:avLst/>
          </a:prstGeom>
        </p:spPr>
      </p:pic>
      <p:pic>
        <p:nvPicPr>
          <p:cNvPr id="3" name="Picture 2" descr="Screenshot 2026-09-09 132217"/>
          <p:cNvPicPr>
            <a:picLocks noChangeAspect="1"/>
          </p:cNvPicPr>
          <p:nvPr/>
        </p:nvPicPr>
        <p:blipFill>
          <a:blip r:embed="rId3"/>
          <a:stretch>
            <a:fillRect/>
          </a:stretch>
        </p:blipFill>
        <p:spPr>
          <a:xfrm>
            <a:off x="5468620" y="1275080"/>
            <a:ext cx="5052695" cy="3117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descr="Screenshot 2026-09-09 132224"/>
          <p:cNvPicPr>
            <a:picLocks noChangeAspect="1"/>
          </p:cNvPicPr>
          <p:nvPr/>
        </p:nvPicPr>
        <p:blipFill>
          <a:blip r:embed="rId2"/>
          <a:stretch>
            <a:fillRect/>
          </a:stretch>
        </p:blipFill>
        <p:spPr>
          <a:xfrm>
            <a:off x="5791835" y="1431925"/>
            <a:ext cx="4753610" cy="2587625"/>
          </a:xfrm>
          <a:prstGeom prst="rect">
            <a:avLst/>
          </a:prstGeom>
        </p:spPr>
      </p:pic>
      <p:pic>
        <p:nvPicPr>
          <p:cNvPr id="3" name="Picture 2" descr="Screenshot 2026-09-09 132234"/>
          <p:cNvPicPr>
            <a:picLocks noChangeAspect="1"/>
          </p:cNvPicPr>
          <p:nvPr/>
        </p:nvPicPr>
        <p:blipFill>
          <a:blip r:embed="rId3"/>
          <a:stretch>
            <a:fillRect/>
          </a:stretch>
        </p:blipFill>
        <p:spPr>
          <a:xfrm>
            <a:off x="0" y="1346835"/>
            <a:ext cx="5915660" cy="31762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descr="Screenshot 2026-09-09 132241"/>
          <p:cNvPicPr>
            <a:picLocks noChangeAspect="1"/>
          </p:cNvPicPr>
          <p:nvPr/>
        </p:nvPicPr>
        <p:blipFill>
          <a:blip r:embed="rId2"/>
          <a:stretch>
            <a:fillRect/>
          </a:stretch>
        </p:blipFill>
        <p:spPr>
          <a:xfrm>
            <a:off x="6521450" y="1703705"/>
            <a:ext cx="4071620" cy="2943860"/>
          </a:xfrm>
          <a:prstGeom prst="rect">
            <a:avLst/>
          </a:prstGeom>
        </p:spPr>
      </p:pic>
      <p:pic>
        <p:nvPicPr>
          <p:cNvPr id="3" name="Picture 2" descr="Screenshot 2026-09-09 132322"/>
          <p:cNvPicPr>
            <a:picLocks noChangeAspect="1"/>
          </p:cNvPicPr>
          <p:nvPr/>
        </p:nvPicPr>
        <p:blipFill>
          <a:blip r:embed="rId3"/>
          <a:stretch>
            <a:fillRect/>
          </a:stretch>
        </p:blipFill>
        <p:spPr>
          <a:xfrm>
            <a:off x="675640" y="1497965"/>
            <a:ext cx="5341620" cy="33553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Screenshot 2026-09-09 132332"/>
          <p:cNvPicPr>
            <a:picLocks noChangeAspect="1"/>
          </p:cNvPicPr>
          <p:nvPr/>
        </p:nvPicPr>
        <p:blipFill>
          <a:blip r:embed="rId2"/>
          <a:stretch>
            <a:fillRect/>
          </a:stretch>
        </p:blipFill>
        <p:spPr>
          <a:xfrm>
            <a:off x="5756910" y="1604010"/>
            <a:ext cx="5055870" cy="3074035"/>
          </a:xfrm>
          <a:prstGeom prst="rect">
            <a:avLst/>
          </a:prstGeom>
        </p:spPr>
      </p:pic>
      <p:pic>
        <p:nvPicPr>
          <p:cNvPr id="6" name="Picture 5" descr="Screenshot 2026-09-09 132350"/>
          <p:cNvPicPr>
            <a:picLocks noChangeAspect="1"/>
          </p:cNvPicPr>
          <p:nvPr/>
        </p:nvPicPr>
        <p:blipFill>
          <a:blip r:embed="rId3"/>
          <a:stretch>
            <a:fillRect/>
          </a:stretch>
        </p:blipFill>
        <p:spPr>
          <a:xfrm>
            <a:off x="224155" y="1431925"/>
            <a:ext cx="4858385" cy="31534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35050" y="2179320"/>
            <a:ext cx="8611870" cy="3841750"/>
          </a:xfrm>
          <a:prstGeom prst="rect">
            <a:avLst/>
          </a:prstGeom>
          <a:noFill/>
        </p:spPr>
        <p:txBody>
          <a:bodyPr wrap="square" rtlCol="0">
            <a:noAutofit/>
          </a:bodyPr>
          <a:p>
            <a:r>
              <a:rPr lang="en-US" altLang="en-US"/>
              <a:t>Predict crop performance for upcoming seasons using historical data.</a:t>
            </a:r>
            <a:endParaRPr lang="en-US" altLang="en-US"/>
          </a:p>
          <a:p>
            <a:r>
              <a:rPr lang="en-US" altLang="en-US"/>
              <a:t>Weather-based analysis to understand the effect of rainfall, temperature, and other conditions.</a:t>
            </a:r>
            <a:endParaRPr lang="en-US" altLang="en-US"/>
          </a:p>
          <a:p>
            <a:r>
              <a:rPr lang="en-US" altLang="en-US"/>
              <a:t>Crop recommendation based on season, soil, and environmental conditions.</a:t>
            </a:r>
            <a:endParaRPr lang="en-US" altLang="en-US"/>
          </a:p>
          <a:p>
            <a:r>
              <a:rPr lang="en-US" altLang="en-US"/>
              <a:t>Yield prediction to help farmers estimate expected production.</a:t>
            </a:r>
            <a:endParaRPr lang="en-US" altLang="en-US"/>
          </a:p>
          <a:p>
            <a:r>
              <a:rPr lang="en-US" altLang="en-US"/>
              <a:t>Real-time data integration using weather and agricultural data sources.</a:t>
            </a:r>
            <a:endParaRPr lang="en-US" altLang="en-US"/>
          </a:p>
          <a:p>
            <a:r>
              <a:rPr lang="en-US" altLang="en-US"/>
              <a:t>Machine Learning models can be used to improve prediction accuracy.</a:t>
            </a:r>
            <a:endParaRPr lang="en-US" altLang="en-US"/>
          </a:p>
          <a:p>
            <a:r>
              <a:rPr lang="en-US" altLang="en-US"/>
              <a:t>Interactive dashboards can be developed for easy monitoring and decision-making.</a:t>
            </a:r>
            <a:endParaRPr lang="en-US" altLang="en-US"/>
          </a:p>
          <a:p>
            <a:r>
              <a:rPr lang="en-US" altLang="en-US"/>
              <a:t>Mobile/Web application can be developed to make the insights easily accessible to farmers and agricultural officers.</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48385" y="2305685"/>
            <a:ext cx="5508625" cy="368300"/>
          </a:xfrm>
          <a:prstGeom prst="rect">
            <a:avLst/>
          </a:prstGeom>
          <a:noFill/>
        </p:spPr>
        <p:txBody>
          <a:bodyPr wrap="square" rtlCol="0">
            <a:spAutoFit/>
          </a:bodyPr>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phota"/>
          <p:cNvPicPr>
            <a:picLocks noChangeAspect="1"/>
          </p:cNvPicPr>
          <p:nvPr/>
        </p:nvPicPr>
        <p:blipFill>
          <a:blip r:embed="rId2"/>
          <a:stretch>
            <a:fillRect/>
          </a:stretch>
        </p:blipFill>
        <p:spPr>
          <a:xfrm>
            <a:off x="411480" y="1462405"/>
            <a:ext cx="8879205" cy="5201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3092</Words>
  <Application>WPS Presentation</Application>
  <PresentationFormat>Widescreen</PresentationFormat>
  <Paragraphs>79</Paragraphs>
  <Slides>14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Wingdings 3</vt:lpstr>
      <vt:lpstr>Symbol</vt:lpstr>
      <vt:lpstr>Arial</vt:lpstr>
      <vt:lpstr>Calibri</vt:lpstr>
      <vt:lpstr>Trebuchet MS</vt:lpstr>
      <vt:lpstr>Microsoft YaHei</vt:lpstr>
      <vt:lpstr>Arial Unicode MS</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Harshitha Kotha</cp:lastModifiedBy>
  <cp:revision>102</cp:revision>
  <dcterms:created xsi:type="dcterms:W3CDTF">2021-07-11T13:13:00Z</dcterms:created>
  <dcterms:modified xsi:type="dcterms:W3CDTF">2026-09-09T17:56:14Z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1033-12.1.0.28485</vt:lpwstr>
  </property>
  <property fmtid="{D5CDD505-2E9C-101B-9397-08002B2CF9AE}" pid="4" name="ICV">
    <vt:lpwstr>FABF97D477C645669504C64497B77FEA_13</vt:lpwstr>
  </property>
</Properties>
</file>